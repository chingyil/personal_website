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PT Sans Narrow"/>
      <p:regular r:id="rId29"/>
      <p:bold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78E84001-3672-488E-B4CF-8F2E6A634857}">
  <a:tblStyle styleId="{78E84001-3672-488E-B4CF-8F2E6A6348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TSansNarrow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PTSansNarrow-bold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a8a69122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a8a6912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62b25f6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462b25f6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result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62b25f66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462b25f66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462b25f66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462b25f66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62b25f66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462b25f66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62b25f66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62b25f66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62b25f663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62b25f663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462b25f663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462b25f663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a8a6912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3a8a6912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62b25f663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62b25f663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a8a6912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3a8a6912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a8a6912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a8a6912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a8a6912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a8a6912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a8a6912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3a8a6912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a8a691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3a8a691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a8a6912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3a8a6912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a8a6912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3a8a6912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a8a6912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3a8a6912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a8a6912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3a8a6912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a8a6912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3a8a6912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a8a6912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a8a6912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Aware</a:t>
            </a:r>
            <a:r>
              <a:rPr lang="en"/>
              <a:t> MSI Protocol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Chingyi Lin, Chunke Tan</a:t>
            </a:r>
            <a:endParaRPr/>
          </a:p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 sz="3000"/>
              <a:t>Motivation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 sz="3000"/>
              <a:t>Group Coherence State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 sz="3000"/>
              <a:t>Interconnection network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 sz="3000"/>
              <a:t>Evaluation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 sz="3000"/>
              <a:t>Conclusion</a:t>
            </a:r>
            <a:endParaRPr sz="3000"/>
          </a:p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Cache coherence is not necessary to be held in global.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This project targets on multi-threaded program with only a subset of processor. In these cases, we hope detailed cache coherence state will improve the performance.</a:t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775" y="2972025"/>
            <a:ext cx="5338226" cy="217147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Coherence State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flag “G” means the coherence is only held</a:t>
            </a:r>
            <a:br>
              <a:rPr lang="en"/>
            </a:br>
            <a:r>
              <a:rPr lang="en"/>
              <a:t>inside the group. Or this G- flag implies cacheline</a:t>
            </a:r>
            <a:br>
              <a:rPr lang="en"/>
            </a:br>
            <a:r>
              <a:rPr lang="en"/>
              <a:t>outside the group are all invalid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Invalid state (I): Data is invalid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Group-invalid state (GI): Data is invalid, but it must be held by its neighbor or lower-level.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Shared state (S): Data is shared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Group-shared state (GS): Data is shared. Non-neighbors are all invalid.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(Group-) modified state: Modified state implies that every other is invalid.</a:t>
            </a:r>
            <a:endParaRPr/>
          </a:p>
        </p:txBody>
      </p:sp>
      <p:graphicFrame>
        <p:nvGraphicFramePr>
          <p:cNvPr id="90" name="Google Shape;90;p16"/>
          <p:cNvGraphicFramePr/>
          <p:nvPr/>
        </p:nvGraphicFramePr>
        <p:xfrm>
          <a:off x="6244200" y="50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{78E84001-3672-488E-B4CF-8F2E6A634857}</a:tableStyleId>
              </a:tblPr>
              <a:tblGrid>
                <a:gridCol w="862700"/>
                <a:gridCol w="862700"/>
                <a:gridCol w="862700"/>
              </a:tblGrid>
              <a:tr h="3962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Normal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Invalid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Shared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Modified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  <p:sp>
        <p:nvSpPr>
          <p:cNvPr id="91" name="Google Shape;91;p16"/>
          <p:cNvSpPr txBox="1"/>
          <p:nvPr/>
        </p:nvSpPr>
        <p:spPr>
          <a:xfrm>
            <a:off x="5910875" y="1783625"/>
            <a:ext cx="59730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Coherence State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11700" y="1266325"/>
            <a:ext cx="7424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Group-shared is a subset of shared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Without G-flag, the program</a:t>
            </a:r>
            <a:br>
              <a:rPr lang="en"/>
            </a:br>
            <a:r>
              <a:rPr lang="en"/>
              <a:t>still works, but more inefficient</a:t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9389" y="2571750"/>
            <a:ext cx="4728711" cy="24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Coherence State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state transition is expanded. But the behavior of group-state is similar to the original.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G- flag will be given with “Reduce” request from directory, and be removed by “Expand” request.</a:t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069" y="3022369"/>
            <a:ext cx="3315775" cy="2033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175" y="3069519"/>
            <a:ext cx="2872875" cy="19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Coherence State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case #1: All processors are in a group</a:t>
            </a:r>
            <a:br>
              <a:rPr lang="en"/>
            </a:br>
            <a:r>
              <a:rPr lang="en"/>
              <a:t>				</a:t>
            </a:r>
            <a:r>
              <a:rPr lang="en"/>
              <a:t>(</a:t>
            </a:r>
            <a:r>
              <a:rPr lang="en"/>
              <a:t>nIntras = nCore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Group- flag can be skipped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“G-” flag means </a:t>
            </a:r>
            <a:r>
              <a:rPr b="1" lang="en"/>
              <a:t>“proc outside the group”</a:t>
            </a:r>
            <a:r>
              <a:rPr lang="en"/>
              <a:t> are invalid -&gt; Trivial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Only three states: Modified, (G-)Shared, (G-)Invalid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is equivalent to MSI protocol</a:t>
            </a:r>
            <a:endParaRPr/>
          </a:p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7" name="Google Shape;117;p19"/>
          <p:cNvGraphicFramePr/>
          <p:nvPr/>
        </p:nvGraphicFramePr>
        <p:xfrm>
          <a:off x="6244200" y="50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{78E84001-3672-488E-B4CF-8F2E6A634857}</a:tableStyleId>
              </a:tblPr>
              <a:tblGrid>
                <a:gridCol w="862700"/>
                <a:gridCol w="862700"/>
                <a:gridCol w="862700"/>
              </a:tblGrid>
              <a:tr h="3962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Normal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Invalid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Shared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Modified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Coherence State</a:t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case #2: Each processor is in a single group</a:t>
            </a:r>
            <a:br>
              <a:rPr lang="en"/>
            </a:br>
            <a:r>
              <a:rPr lang="en"/>
              <a:t>				</a:t>
            </a:r>
            <a:r>
              <a:rPr lang="en"/>
              <a:t>(</a:t>
            </a:r>
            <a:r>
              <a:rPr lang="en"/>
              <a:t>nIntras = 1)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Modified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(Group-) Invalid: </a:t>
            </a:r>
            <a:r>
              <a:rPr lang="en"/>
              <a:t>G- flag doesn’t affect the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Group-shared = Exclusive state in MESI protocol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Shared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is equivalent to MESI protocol</a:t>
            </a:r>
            <a:endParaRPr/>
          </a:p>
        </p:txBody>
      </p:sp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25" name="Google Shape;125;p20"/>
          <p:cNvGraphicFramePr/>
          <p:nvPr/>
        </p:nvGraphicFramePr>
        <p:xfrm>
          <a:off x="6244200" y="50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{78E84001-3672-488E-B4CF-8F2E6A634857}</a:tableStyleId>
              </a:tblPr>
              <a:tblGrid>
                <a:gridCol w="862700"/>
                <a:gridCol w="862700"/>
                <a:gridCol w="862700"/>
              </a:tblGrid>
              <a:tr h="3962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Normal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Invalid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Shared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Modified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Interconnection network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two kinds of bus adhered to L1$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Global bus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Every L1$ can transmit to another L1$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Internal bus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Can only transmit to its neighbor</a:t>
            </a:r>
            <a:br>
              <a:rPr lang="en"/>
            </a:b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en"/>
              <a:t>Directory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L1$ -&gt; Directory: Through global bus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Directory -&gt; L1$: Depends</a:t>
            </a:r>
            <a:endParaRPr/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0100" y="2284725"/>
            <a:ext cx="4623900" cy="273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0100" y="2284725"/>
            <a:ext cx="4623900" cy="273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Evaluation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nCore:     # of total core on the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nThread: # of thread of the program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nIntra:     # of processor in a group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nIntra=1,2,4 … Fix-number group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nIntra=ncore, ncore/2 … Dynamic group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Bus configuration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Transmission time = 2 * nIntra</a:t>
            </a:r>
            <a:endParaRPr/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1700" y="1266325"/>
            <a:ext cx="5018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Execution time v.s. # of processor</a:t>
            </a:r>
            <a:endParaRPr/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00" y="1854405"/>
            <a:ext cx="4197425" cy="2518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508" y="1854400"/>
            <a:ext cx="4040416" cy="24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266325"/>
            <a:ext cx="5018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Miss penalty</a:t>
            </a:r>
            <a:endParaRPr/>
          </a:p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875" y="2052300"/>
            <a:ext cx="4040436" cy="24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958098"/>
            <a:ext cx="4197425" cy="251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311700" y="1266325"/>
            <a:ext cx="5018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</a:t>
            </a:r>
            <a:r>
              <a:rPr lang="en"/>
              <a:t>-thread program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nThread = nCore</a:t>
            </a:r>
            <a:endParaRPr/>
          </a:p>
        </p:txBody>
      </p:sp>
      <p:sp>
        <p:nvSpPr>
          <p:cNvPr id="166" name="Google Shape;16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875" y="2144775"/>
            <a:ext cx="4040436" cy="24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225" y="2188050"/>
            <a:ext cx="3968300" cy="23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311700" y="1266325"/>
            <a:ext cx="8067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The additional internal bus can decrease the miss penalty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Fix-numbered group saves half of scalability cost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G-flag works !!!</a:t>
            </a:r>
            <a:endParaRPr sz="2000"/>
          </a:p>
        </p:txBody>
      </p:sp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250" y="2084350"/>
            <a:ext cx="5857900" cy="29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-- Ask an M permission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(1/6): Proc #0 issue a load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en"/>
              <a:t>GetS through global bus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From L1$ to directory</a:t>
            </a:r>
            <a:endParaRPr/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4724" y="1876975"/>
            <a:ext cx="5371449" cy="31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124" y="1908075"/>
            <a:ext cx="5335674" cy="309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-- Ask an M permission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311700" y="1266325"/>
            <a:ext cx="5018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(2/6): Group with proc #0 is reduced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en"/>
              <a:t>No one has the data. So directory will send a “Reduce” request to procs in the group with proc #0</a:t>
            </a:r>
            <a:br>
              <a:rPr lang="en"/>
            </a:b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Proc #0: Shared -&gt; G-Shared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Proc #1: Invalid -&gt; G-Invalid</a:t>
            </a:r>
            <a:endParaRPr/>
          </a:p>
        </p:txBody>
      </p:sp>
      <p:sp>
        <p:nvSpPr>
          <p:cNvPr id="198" name="Google Shape;19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-- Ask an M permission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311700" y="1266325"/>
            <a:ext cx="5018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Step (3/6): Load from proc #0 is complete.</a:t>
            </a:r>
            <a:br>
              <a:rPr lang="en"/>
            </a:br>
            <a:r>
              <a:rPr lang="en"/>
              <a:t>		    Proc #1 issues a store</a:t>
            </a:r>
            <a:endParaRPr/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575" y="1894900"/>
            <a:ext cx="4643426" cy="31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-- Ask an M permission</a:t>
            </a:r>
            <a:endParaRPr/>
          </a:p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311700" y="1266325"/>
            <a:ext cx="5018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(4/6): Proc #1 issues a store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GetM through global bus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From L1$ to directory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With G- flag</a:t>
            </a:r>
            <a:endParaRPr/>
          </a:p>
        </p:txBody>
      </p:sp>
      <p:pic>
        <p:nvPicPr>
          <p:cNvPr id="213" name="Google Shape;21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4350" y="1897698"/>
            <a:ext cx="5350224" cy="30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9100" y="1845850"/>
            <a:ext cx="5515151" cy="312134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-- Ask an M permission</a:t>
            </a:r>
            <a:endParaRPr/>
          </a:p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311700" y="1266325"/>
            <a:ext cx="5018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(5/6): Forward this GetM to data sharers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request is with G- flag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Don’t care inter-proc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Forward GetM through internal bus</a:t>
            </a:r>
            <a:endParaRPr/>
          </a:p>
        </p:txBody>
      </p:sp>
      <p:sp>
        <p:nvSpPr>
          <p:cNvPr id="222" name="Google Shape;22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8850" y="1897698"/>
            <a:ext cx="5386074" cy="311942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-- Ask an M permission</a:t>
            </a:r>
            <a:endParaRPr/>
          </a:p>
        </p:txBody>
      </p: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311700" y="1266325"/>
            <a:ext cx="50184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(6/6): Send InvAck to requestor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Proc #0 send back Ack after it invalidates the cache line.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$-state is with G-flag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Requestor must be in the same group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Proc #1 goes to Modified</a:t>
            </a:r>
            <a:endParaRPr/>
          </a:p>
        </p:txBody>
      </p:sp>
      <p:sp>
        <p:nvSpPr>
          <p:cNvPr id="230" name="Google Shape;23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nIntras affects?</a:t>
            </a:r>
            <a:endParaRPr/>
          </a:p>
        </p:txBody>
      </p:sp>
      <p:sp>
        <p:nvSpPr>
          <p:cNvPr id="236" name="Google Shape;23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850" y="1221850"/>
            <a:ext cx="5898040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